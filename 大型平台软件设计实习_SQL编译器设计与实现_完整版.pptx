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23E7A-1B43-4504-A4FB-ED840C402A22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FC269-FDFB-46F8-BA9B-DBEA5CB1B1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08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0729A-F54D-4AA8-8A1B-F82AB3EAA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353150-803D-4F91-93B0-7FEA8D71C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8EC1B-DC16-4D59-BD58-D17EAC04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F68EB3-B22D-497E-886C-17BF276B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ED4F2-43FB-4351-A2EF-8FFD3FF4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86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7804A-99AF-45FC-A154-6FF1D451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69F6C-00A8-4EA0-A2AF-575532F71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CB3E9-9F71-4560-9B4B-49FB019E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7CAB31-9462-4F2A-A16A-89A05C9E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321D0E-4D72-45D4-8AD9-4596011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5A37AA-95B6-E4B0-009D-2A9ECFAD2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385" y="913130"/>
            <a:ext cx="6715230" cy="617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8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164E6-C555-4F14-AA16-76C04C3D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E6D47-37D7-44D8-BE37-9D263143E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48752-877F-4CD5-B642-83B1EDCE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18A30E-91E2-41DB-9D17-D0EA1B81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2F098-B10F-4354-8E43-3C67A579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08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ADDC8-398E-4D6C-B4FB-D67914DA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CD63B-AF8A-4051-881B-B7EC595B3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083404-AA1C-4F8E-82AF-7D0B027D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4D3B7-5F21-41DB-851A-8A7C6406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B21581-3148-4A4D-BD57-7FCB8E5F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38DFB-C865-4637-8218-A6A0184E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3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3F640-B5AB-4294-BB04-CFF9F3F1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52DCC-C3B2-4CD0-BD3A-40829AB52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2D287E-35FB-4C34-BB62-B65800121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B867F-A1EB-42DA-9F4B-6A2EA8371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E4CDB3-5DD5-417A-93F6-B597425D6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3EA268-391F-49A1-A44F-78A57ACF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2F149C-B570-4B02-8D33-B9FD17CF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7F40F0-915D-4240-AD41-D16DBDEC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05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0E67C-2B8D-4F25-8501-062478E5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0F731A-235C-429D-9E86-658B9230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7B7256-FE39-412E-A3F6-21FD3B7D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556339-4C41-4777-A064-E8ECE944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86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BD88CF-4EB5-4BA1-A183-7D31251C5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9A2AF1-D3A5-49E8-8B8E-2F8448E4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743C8F-7C4D-48E5-B737-241BC0A7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55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4E983-4692-4235-A32B-E71E64F9B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EC3DD-5E50-4CE4-BA9A-0BF00E44E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140A31-6DCB-4B15-BC76-A1B463BF7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C78C7E-6682-41D5-82CA-9A4CC166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813770-0913-40CB-A985-13704F5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622BAD-7201-4C6B-8F6C-8A91EC67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3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8DFE0-208C-48C4-AAD0-389602D6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53C6C9-D792-4F70-AFF2-17EA70A1A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E29831-F56B-4E22-ABD5-DAC317CA3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C7611D-F269-4CFA-8DF0-D8DD2610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7162C5-20CC-4087-9E82-D660466C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2F73A8-7CE4-4C9F-84DC-BAC67754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89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3FC39-3466-4875-888B-2C8ED2C1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44356D-7512-4522-A890-3195C8439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87541E-F7C4-41A4-B48B-2E2913AB8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C29B2-8976-4A61-AA9D-49D1C3A6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EE869-71C1-4FA6-B05A-E8B18D56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64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394E59-04B1-4022-8AC6-F0522DA69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3C97A-B559-4CF4-B19F-C940E67AC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03C0F-18AA-44F0-ACD4-6FEBB1A3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B6337-604B-425E-9142-6F21A818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00B18-2A70-48DB-86EF-10A1AAF0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2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3D59F8-0D6C-4683-9FDE-C68F4CCE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11824-7A3E-4564-A4AE-2645D78F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9EEAC0-5ED5-4BE8-B84F-D20753E3C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6B930-EA9F-40B0-ADDB-5CD0F694B586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6DF1F-A4FE-4F57-BEAA-5D5B8A61E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EB630-3B31-42CA-9084-F2722A798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B2E32-4FBC-438C-AC03-B42086BF88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2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u_logo_from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834640" cy="8287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1938528"/>
            <a:ext cx="102412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F2937"/>
                </a:solidFill>
                <a:latin typeface="微软雅黑"/>
              </a:rPr>
              <a:t>《大型平台软件设计实习》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788920"/>
            <a:ext cx="82296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0B67B2"/>
                </a:solidFill>
                <a:latin typeface="微软雅黑"/>
              </a:rPr>
              <a:t>SQL 编译器设计与实现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4005072"/>
            <a:ext cx="54864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1F2937"/>
                </a:solidFill>
                <a:latin typeface="微软雅黑"/>
              </a:rPr>
              <a:t>计算机学院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26280"/>
            <a:ext cx="6309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姚鑫、邓磊、桂宁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5321808"/>
            <a:ext cx="3886200" cy="347472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B67B2"/>
                </a:solidFill>
                <a:latin typeface="微软雅黑"/>
              </a:rPr>
              <a:t>编译原理 × 数据库 × 系统软件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实习总体任务：从语言到系统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063240" cy="297180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297180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64207"/>
            <a:ext cx="2788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67B2"/>
                </a:solidFill>
                <a:latin typeface="微软雅黑"/>
              </a:rPr>
              <a:t>① SQL 编译器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57400"/>
            <a:ext cx="2770632" cy="2377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SQL → Token → AST
→ 语义检查 → 执行计划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54480"/>
            <a:ext cx="3063240" cy="297180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554480"/>
            <a:ext cx="73152" cy="297180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664207"/>
            <a:ext cx="2788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4CA8"/>
                </a:solidFill>
                <a:latin typeface="微软雅黑"/>
              </a:rPr>
              <a:t>② 页式存储系统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057400"/>
            <a:ext cx="2770632" cy="2377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Page / Buffer / LRU-FIFO
→ 持久化与数据访问接口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554480"/>
            <a:ext cx="3063240" cy="297180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1554480"/>
            <a:ext cx="73152" cy="297180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1664207"/>
            <a:ext cx="27889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84F"/>
                </a:solidFill>
                <a:latin typeface="微软雅黑"/>
              </a:rPr>
              <a:t>③ 小型数据库系统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2057400"/>
            <a:ext cx="2770632" cy="2377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执行引擎 + 存储引擎 + Catalog
→ 完整执行 CREATE / INSERT / SELECT /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F2937"/>
                </a:solidFill>
                <a:latin typeface="微软雅黑"/>
              </a:rPr>
              <a:t>核心主线：让学生真正体验“从 SQL 语言 → 执行计划 → 数据页”的完整系统链路。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5806440"/>
            <a:ext cx="4389120" cy="347472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B67B2"/>
                </a:solidFill>
                <a:latin typeface="微软雅黑"/>
              </a:rPr>
              <a:t>本 PPT 重点：SQL 编译器模块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编译器模块在整个数据库系统中的位置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793" y="2057400"/>
            <a:ext cx="1156348" cy="731520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SQL 文本</a:t>
            </a: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1372288" y="2423160"/>
            <a:ext cx="253651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81086" y="2057400"/>
            <a:ext cx="1156348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Lexer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3092581" y="2423160"/>
            <a:ext cx="253651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01379" y="2057400"/>
            <a:ext cx="1342856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Parser / AST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999382" y="2423160"/>
            <a:ext cx="253651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08180" y="2057400"/>
            <a:ext cx="1156348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Semantic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6719675" y="2423160"/>
            <a:ext cx="253651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28473" y="2057400"/>
            <a:ext cx="1156348" cy="73152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Logical Plan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8439968" y="2423160"/>
            <a:ext cx="253651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48766" y="2057400"/>
            <a:ext cx="1342856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Execution Engine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10346769" y="2423160"/>
            <a:ext cx="253651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755565" y="2057400"/>
            <a:ext cx="1342856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1F2937"/>
                </a:solidFill>
                <a:latin typeface="微软雅黑"/>
              </a:rPr>
              <a:t>Storage /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29000"/>
            <a:ext cx="101498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F2937"/>
                </a:solidFill>
                <a:latin typeface="微软雅黑"/>
              </a:rPr>
              <a:t>编译器不是孤立实验，而是数据库前端：它输出的执行计划将直接驱动后续执行引擎。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51960"/>
            <a:ext cx="4800600" cy="1417320"/>
          </a:xfrm>
          <a:prstGeom prst="roundRect">
            <a:avLst/>
          </a:prstGeom>
          <a:solidFill>
            <a:srgbClr val="F5FAFE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51560" y="4251960"/>
            <a:ext cx="73152" cy="141732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6151" y="4361688"/>
            <a:ext cx="4526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编译原理关注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1" y="4754880"/>
            <a:ext cx="450799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语言规则、分析方法、AST、语义、IR 与优化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51960"/>
            <a:ext cx="4800600" cy="141732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4251960"/>
            <a:ext cx="73152" cy="141732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361688"/>
            <a:ext cx="4526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数据库系统关注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754880"/>
            <a:ext cx="450799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算子执行、Catalog、存储访问与最终查询结果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课程定位与设计思路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4251960"/>
          </a:xfrm>
          <a:prstGeom prst="round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B7280"/>
                </a:solidFill>
                <a:latin typeface="微软雅黑"/>
              </a:rPr>
              <a:t>传统实现关注点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999232" cy="3657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• 写 Lexer / Parser
• 求 FIRST / FOLLOW
• 写大量 switch-case
• 按样例“跑通”即可
大模型出现后，这类机械实现的区分度显著下降。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25196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527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67B2"/>
                </a:solidFill>
                <a:latin typeface="微软雅黑"/>
              </a:rPr>
              <a:t>本课程关注点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2999232" cy="3657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• 文法设计是否合理
• AST 是否可扩展
• 语义检查是否完整
• 错误能否精确定位
• 优化是否正确
• 测试能否覆盖边界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91840" cy="425196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425196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27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84F"/>
                </a:solidFill>
                <a:latin typeface="微软雅黑"/>
              </a:rPr>
              <a:t>AI 时代的验收方式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2999232" cy="3657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• 使用大模型辅助开发
• 教师隐藏测试
• 随机代码讲解
• 现场需求修改
• 现场 Debug
考察“能否驾驭代码”，而非“是否手敲所有代码”。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本次编译器模块的验收目标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325880"/>
            <a:ext cx="475488" cy="475488"/>
          </a:xfrm>
          <a:prstGeom prst="ellipse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44168"/>
            <a:ext cx="47548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07592"/>
            <a:ext cx="1005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67B2"/>
                </a:solidFill>
                <a:latin typeface="微软雅黑"/>
              </a:rPr>
              <a:t>正确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307592"/>
            <a:ext cx="88239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合法 SQL 能通过完整流水线，并得到结构正确的 AST 与 Plan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58568"/>
            <a:ext cx="475488" cy="47548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76856"/>
            <a:ext cx="47548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240279"/>
            <a:ext cx="1005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62828"/>
                </a:solidFill>
                <a:latin typeface="微软雅黑"/>
              </a:rPr>
              <a:t>稳健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240279"/>
            <a:ext cx="88239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非法输入不崩溃，能区分词法 / 语法 / 语义错误并准确定位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91256"/>
            <a:ext cx="475488" cy="475488"/>
          </a:xfrm>
          <a:prstGeom prst="ellipse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47548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72968"/>
            <a:ext cx="1005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4CA8"/>
                </a:solidFill>
                <a:latin typeface="微软雅黑"/>
              </a:rPr>
              <a:t>可扩展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172968"/>
            <a:ext cx="88239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文法、AST、Catalog、Plan 节点具有清晰模块边界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23944"/>
            <a:ext cx="475488" cy="475488"/>
          </a:xfrm>
          <a:prstGeom prst="ellipse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142231"/>
            <a:ext cx="47548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105656"/>
            <a:ext cx="1005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84F"/>
                </a:solidFill>
                <a:latin typeface="微软雅黑"/>
              </a:rPr>
              <a:t>可优化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105656"/>
            <a:ext cx="88239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至少实现若干规则式优化，并能展示优化前后的差异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056631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074919"/>
            <a:ext cx="47548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038344"/>
            <a:ext cx="1005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67E22"/>
                </a:solidFill>
                <a:latin typeface="微软雅黑"/>
              </a:rPr>
              <a:t>可验证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38344"/>
            <a:ext cx="88239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有系统测试、边界测试和教师隐藏测试结果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MiniSQL：支持范围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40233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9743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核心 SQL 子集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4974336" cy="3566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937"/>
                </a:solidFill>
                <a:latin typeface="Consolas"/>
              </a:rPr>
              <a:t>CREATE TABLE student(
  id INT, name VARCHAR, age INT
);
INSERT INTO student(id,name,age)
VALUES (1,'Alice',20);
SELECT id, name
FROM student
WHERE age &gt; 18 AND id != 3;
DELETE FROM student
WHERE id = 1;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029200" cy="1874519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73152" cy="1874519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527048"/>
            <a:ext cx="47548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必做语言能力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20240"/>
            <a:ext cx="473659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CREATE TABLE / INSERT / SELECT / DELETE
WHERE 条件、比较运算、AND / OR / NOT、括号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47872"/>
            <a:ext cx="5029200" cy="1874519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547872"/>
            <a:ext cx="73152" cy="1874519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3657600"/>
            <a:ext cx="47548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扩展能力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050791"/>
            <a:ext cx="473659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UPDATE / ORDER BY / GROUP BY / JOIN
算术表达式、NULL、更多类型等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0016" y="6002375"/>
            <a:ext cx="6341488" cy="2939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dirty="0" err="1">
                <a:solidFill>
                  <a:srgbClr val="1F2937"/>
                </a:solidFill>
                <a:latin typeface="微软雅黑"/>
              </a:rPr>
              <a:t>原则：不追求“SQL</a:t>
            </a:r>
            <a:r>
              <a:rPr sz="1550" b="1" dirty="0">
                <a:solidFill>
                  <a:srgbClr val="1F2937"/>
                </a:solidFill>
                <a:latin typeface="微软雅黑"/>
              </a:rPr>
              <a:t> </a:t>
            </a:r>
            <a:r>
              <a:rPr sz="1550" b="1" dirty="0" err="1">
                <a:solidFill>
                  <a:srgbClr val="1F2937"/>
                </a:solidFill>
                <a:latin typeface="微软雅黑"/>
              </a:rPr>
              <a:t>越多越好</a:t>
            </a:r>
            <a:r>
              <a:rPr sz="1550" b="1" dirty="0">
                <a:solidFill>
                  <a:srgbClr val="1F2937"/>
                </a:solidFill>
                <a:latin typeface="微软雅黑"/>
              </a:rPr>
              <a:t>”，</a:t>
            </a:r>
            <a:r>
              <a:rPr sz="1550" b="1" dirty="0" err="1">
                <a:solidFill>
                  <a:srgbClr val="1F2937"/>
                </a:solidFill>
                <a:latin typeface="微软雅黑"/>
              </a:rPr>
              <a:t>重点提升编译器结构与正确性</a:t>
            </a:r>
            <a:r>
              <a:rPr sz="1550" b="1" dirty="0">
                <a:solidFill>
                  <a:srgbClr val="1F2937"/>
                </a:solidFill>
                <a:latin typeface="微软雅黑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508760"/>
            <a:ext cx="109728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B67B2"/>
                </a:solidFill>
                <a:latin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1572768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微软雅黑"/>
              </a:rPr>
              <a:t>词法分析 Lexical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487168"/>
            <a:ext cx="80467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B7280"/>
                </a:solidFill>
                <a:latin typeface="微软雅黑"/>
              </a:rPr>
              <a:t>从字符流构造稳定、可定位的 Token 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218688"/>
            <a:ext cx="5669280" cy="50292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词法分析器：目标与接口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83280" cy="443484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44348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31089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67B2"/>
                </a:solidFill>
                <a:latin typeface="微软雅黑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3090672" cy="3840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SQL 文件 / 标准输入
支持多条 SQL 语句
保留行号、列号状态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443484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73152" cy="443484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089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4CA8"/>
                </a:solidFill>
                <a:latin typeface="微软雅黑"/>
              </a:rPr>
              <a:t>核心处理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90672" cy="3840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识别关键字、标识符、常量、运算符、分隔符
跳过空白和注释
处理字符串与转义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417320"/>
            <a:ext cx="3383280" cy="443484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37575" y="1417320"/>
            <a:ext cx="73152" cy="44348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7" y="1527048"/>
            <a:ext cx="31089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84F"/>
                </a:solidFill>
                <a:latin typeface="微软雅黑"/>
              </a:rP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7" y="1920240"/>
            <a:ext cx="3090672" cy="3840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Token Stream
&lt;TokenType, Lexeme,
Line, Column&gt;
错误：类型 + 位置 + 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SQL 词法规则：从“普通语言示例”切换到真实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53312"/>
            <a:ext cx="141732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B67B2"/>
                </a:solidFill>
                <a:latin typeface="微软雅黑"/>
              </a:rPr>
              <a:t>KEYWORD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335024"/>
            <a:ext cx="88239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微软雅黑"/>
              </a:rPr>
              <a:t>SELECT / FROM / WHERE / CREATE / TABLE / INSERT / INTO / VALUES /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1732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6D4CA8"/>
                </a:solidFill>
                <a:latin typeface="微软雅黑"/>
              </a:rPr>
              <a:t>IDENTIFIER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084831"/>
            <a:ext cx="88239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Consolas"/>
              </a:rPr>
              <a:t>student / age / user_name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52927"/>
            <a:ext cx="141732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A84F"/>
                </a:solidFill>
                <a:latin typeface="微软雅黑"/>
              </a:rPr>
              <a:t>CONST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834639"/>
            <a:ext cx="88239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Consolas"/>
              </a:rPr>
              <a:t>20 / 3.14 / 'Alice' / 'Tom''s book'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02735"/>
            <a:ext cx="141732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E67E22"/>
                </a:solidFill>
                <a:latin typeface="微软雅黑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3584447"/>
            <a:ext cx="88239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Consolas"/>
              </a:rPr>
              <a:t>=  !=  &gt;  &gt;=  &lt;  &lt;=  +  -  *  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52544"/>
            <a:ext cx="141732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6B7280"/>
                </a:solidFill>
                <a:latin typeface="微软雅黑"/>
              </a:rPr>
              <a:t>DELIMITER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4334256"/>
            <a:ext cx="88239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Consolas"/>
              </a:rPr>
              <a:t>(  )  , 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49240"/>
            <a:ext cx="10469880" cy="77724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5349240"/>
            <a:ext cx="73152" cy="7772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458968"/>
            <a:ext cx="10195559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67B2"/>
                </a:solidFill>
                <a:latin typeface="微软雅黑"/>
              </a:rPr>
              <a:t>关键约定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852159"/>
            <a:ext cx="10177272" cy="1828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SQL 关键字大小写不敏感；字符串内容保持原样；关键字与标识符要在词法阶段正确区分。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Token 结构：输出不仅是“种别码”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01752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490472"/>
            <a:ext cx="44256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Token 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783080"/>
            <a:ext cx="4425696" cy="2560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Consolas"/>
              </a:rPr>
              <a:t>Token {
  type: KEYWORD
  lexeme: "SELECT"
  line: 3
  column: 1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5120640" cy="105156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73152" cy="105156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52704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920240"/>
            <a:ext cx="4828031" cy="4571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后续 Parser 判断语法类别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651760"/>
            <a:ext cx="5120640" cy="105156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2651760"/>
            <a:ext cx="73152" cy="105156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76148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Lexeme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154680"/>
            <a:ext cx="4828031" cy="4571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保留标识符、常量等实际值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886200"/>
            <a:ext cx="5120640" cy="105156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3886200"/>
            <a:ext cx="73152" cy="105156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99592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Line / Column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4389120"/>
            <a:ext cx="4828031" cy="4571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用于语法和语义错误精确定位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6518" y="5596259"/>
            <a:ext cx="5702643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 err="1">
                <a:solidFill>
                  <a:srgbClr val="1F2937"/>
                </a:solidFill>
                <a:latin typeface="微软雅黑"/>
              </a:rPr>
              <a:t>这一步决定了后续错误诊断能否做到“像真正编译器一样</a:t>
            </a:r>
            <a:r>
              <a:rPr sz="1600" b="1" dirty="0">
                <a:solidFill>
                  <a:srgbClr val="1F2937"/>
                </a:solidFill>
                <a:latin typeface="微软雅黑"/>
              </a:rPr>
              <a:t>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词法难点：真正拉开差距的是边界情况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60020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注释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304495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-- single line
/* multi-line */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1732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417320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1" y="15270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67E22"/>
                </a:solidFill>
                <a:latin typeface="微软雅黑"/>
              </a:rPr>
              <a:t>多字符运算符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1920240"/>
            <a:ext cx="304495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&gt;=  &lt;=  !=  ==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73152" cy="160020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5270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字符串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920240"/>
            <a:ext cx="304495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'Alice'   'Tom''s book'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474720"/>
            <a:ext cx="73152" cy="160020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5844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大小写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977639"/>
            <a:ext cx="304495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select  SELECT  SeLeCt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47472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3474720"/>
            <a:ext cx="73152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1" y="35844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微软雅黑"/>
              </a:rPr>
              <a:t>非法输入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3977639"/>
            <a:ext cx="304495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@  未闭合字符串  非法数字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474720"/>
            <a:ext cx="3337560" cy="160020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474720"/>
            <a:ext cx="73152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1" y="35844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微软雅黑"/>
              </a:rPr>
              <a:t>要求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977639"/>
            <a:ext cx="304495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非法输入必须返回错误类型、位置与原因；不得直接崩溃。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词法分析示例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251960" cy="45262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90472"/>
            <a:ext cx="392277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输入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922776" cy="4069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F2937"/>
                </a:solidFill>
                <a:latin typeface="Consolas"/>
              </a:rPr>
              <a:t>-- query
SELECT name
FROM student
WHERE age &gt;= 18
  AND name != 'Tom';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6217920" cy="45262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22392" y="1490472"/>
            <a:ext cx="58887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输出 Token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2392" y="1783080"/>
            <a:ext cx="5888736" cy="4069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 b="0">
                <a:solidFill>
                  <a:srgbClr val="1F2937"/>
                </a:solidFill>
                <a:latin typeface="Consolas"/>
              </a:rPr>
              <a:t>KEYWORD      SELECT     (2,1)
IDENTIFIER   name       (2,8)
KEYWORD      FROM       (3,1)
IDENTIFIER   student    (3,6)
KEYWORD      WHERE      (4,1)
IDENTIFIER   age        (4,7)
OPERATOR     &gt;=         (4,11)
CONST        18         (4,14)
KEYWORD      AND        (5,3)
IDENTIFIER   name       (5,7)
OPERATOR     !=         (5,12)
CONST        'Tom'      (5,15)
DELIMITER    ;          (5,20)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508760"/>
            <a:ext cx="109728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6D4CA8"/>
                </a:solidFill>
                <a:latin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1572768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微软雅黑"/>
              </a:rPr>
              <a:t>语法分析 Syntax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487168"/>
            <a:ext cx="80467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B7280"/>
                </a:solidFill>
                <a:latin typeface="微软雅黑"/>
              </a:rPr>
              <a:t>从 Token Stream 构造结构化 AST，而不只是“判断合法”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218688"/>
            <a:ext cx="5669280" cy="50292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语法分析器：新的核心产物是 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965960" cy="777240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Token Stream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2304288"/>
            <a:ext cx="82296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1920240"/>
            <a:ext cx="19659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Parser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2304288"/>
            <a:ext cx="82296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75120" y="1920240"/>
            <a:ext cx="1965960" cy="77724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AST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32520" y="2304288"/>
            <a:ext cx="82296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0" y="1920240"/>
            <a:ext cx="1600200" cy="77724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Semantic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4800600" cy="1554480"/>
          </a:xfrm>
          <a:prstGeom prst="roundRect">
            <a:avLst/>
          </a:prstGeom>
          <a:solidFill>
            <a:srgbClr val="F5FAFE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73152" cy="155448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767328"/>
            <a:ext cx="4526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原 PPT 的基础仍保留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160520"/>
            <a:ext cx="4507992" cy="9601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LL(1)、消左递归、FIRST/FOLLOW、预测分析表用于理解 Parser 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4800600" cy="155448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657600"/>
            <a:ext cx="73152" cy="155448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3767328"/>
            <a:ext cx="4526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验收重点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160520"/>
            <a:ext cx="4507992" cy="9601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必须构造 AST，并保证 AST 能被语义分析与执行计划生成继续使用。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SQL 子集文法：文法必须显式提交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10972800" cy="507492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26464"/>
            <a:ext cx="106436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grammar.md 内容示例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10643616" cy="4617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0">
                <a:solidFill>
                  <a:srgbClr val="1F2937"/>
                </a:solidFill>
                <a:latin typeface="Consolas"/>
              </a:rPr>
              <a:t>statement       -&gt; create_stmt | insert_stmt | select_stmt | delete_stmt ;
select_stmt      -&gt; SELECT select_list FROM IDENTIFIER where_opt ';' ;
select_list      -&gt; '*' | IDENTIFIER { ',' IDENTIFIER } ;
where_opt        -&gt; WHERE expression | ε ;
delete_stmt      -&gt; DELETE FROM IDENTIFIER where_opt ';' ;
create_stmt      -&gt; CREATE TABLE IDENTIFIER '(' column_def
                    { ',' column_def } ')' ';' ;
column_def       -&gt; IDENTIFIER type ;
type             -&gt; INT | VARCHAR ;
insert_stmt      -&gt; INSERT INTO IDENTIFIER '(' id_list ')'
                    VALUES '(' value_list ')' ';' 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897880"/>
            <a:ext cx="2743200" cy="347472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C62828"/>
                </a:solidFill>
                <a:latin typeface="微软雅黑"/>
              </a:rPr>
              <a:t>代码实现必须与文法一致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表达式文法：用优先级提升 Parser 难度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4480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83717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WHERE 表达式文法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837176" cy="4023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>
                <a:solidFill>
                  <a:srgbClr val="1F2937"/>
                </a:solidFill>
                <a:latin typeface="Consolas"/>
              </a:rPr>
              <a:t>expression   -&gt; or_expr
or_expr      -&gt; and_expr
                { OR and_expr }
and_expr     -&gt; not_expr
                { AND not_expr }
not_expr     -&gt; NOT not_expr
              | comparison
comparison   -&gt; primary
               [ comp_op primary ]
primary      -&gt; IDENTIFIER
              | CONST
              | '(' expression ')'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4800600" cy="196596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73152" cy="196596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481328"/>
            <a:ext cx="4526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必须理解的优先级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874519"/>
            <a:ext cx="4507992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NOT  &gt;  比较运算  &gt;  AND  &gt;  OR
括号可显式改变结合结构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611880"/>
            <a:ext cx="4800600" cy="22402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3685032"/>
            <a:ext cx="44714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不是简单从左到右扫描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977640"/>
            <a:ext cx="4471416" cy="1783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0">
                <a:solidFill>
                  <a:srgbClr val="1F2937"/>
                </a:solidFill>
                <a:latin typeface="Consolas"/>
              </a:rPr>
              <a:t>a = 1 OR b = 2 AND c = 3
等价于：
a = 1 OR (b = 2 AND c =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LL(1) 回顾：左递归为什么必须处理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709160" cy="28346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581912"/>
            <a:ext cx="437997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原始表达式文法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874519"/>
            <a:ext cx="4379976" cy="2377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1F2937"/>
                </a:solidFill>
                <a:latin typeface="Consolas"/>
              </a:rPr>
              <a:t>E -&gt; E + T | T
T -&gt; T * F | F
F -&gt; ( E ) | 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23560" y="2907792"/>
            <a:ext cx="777240" cy="0"/>
          </a:xfrm>
          <a:prstGeom prst="line">
            <a:avLst/>
          </a:prstGeom>
          <a:ln w="25400">
            <a:solidFill>
              <a:srgbClr val="6D4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46520" y="1508760"/>
            <a:ext cx="4800600" cy="28346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1581912"/>
            <a:ext cx="44714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消除直接左递归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874519"/>
            <a:ext cx="4471416" cy="2377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0">
                <a:solidFill>
                  <a:srgbClr val="1F2937"/>
                </a:solidFill>
                <a:latin typeface="Consolas"/>
              </a:rPr>
              <a:t>E  -&gt; T E'
E' -&gt; + T E' | ε
T  -&gt; F T'
T' -&gt; * F T' | ε
F  -&gt; ( E ) |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28032"/>
            <a:ext cx="9418320" cy="96012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828032"/>
            <a:ext cx="73152" cy="96012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36192" y="4937760"/>
            <a:ext cx="91440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67B2"/>
                </a:solidFill>
                <a:latin typeface="微软雅黑"/>
              </a:rPr>
              <a:t>关键理解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330952"/>
            <a:ext cx="91257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递归下降 / LL(1) Parser 若直接使用左递归文法，会进入无限递归；文法结构必须先与分析策略匹配。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FIRST / FOLLOW / Predict Table：仍是基础，但不再是终点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82880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3044952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某非终结符可能推导出的第一个终结符集合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5270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3044952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某非终结符之后可能紧跟的终结符集合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52704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预测分析表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920240"/>
            <a:ext cx="3044952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由当前栈顶非终结符 + lookahead 唯一选择产生式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069080"/>
            <a:ext cx="1920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Grammar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4407408"/>
            <a:ext cx="77724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31920" y="4069080"/>
            <a:ext cx="1920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FIRST/FOLLOW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4407408"/>
            <a:ext cx="77724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6560" y="4069080"/>
            <a:ext cx="1920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LL(1) Table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4407408"/>
            <a:ext cx="77724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0" y="4069080"/>
            <a:ext cx="1508760" cy="68580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30368"/>
            <a:ext cx="8412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50" b="1">
                <a:solidFill>
                  <a:srgbClr val="1F2937"/>
                </a:solidFill>
                <a:latin typeface="微软雅黑"/>
              </a:rPr>
              <a:t>分析表最终服务于 AST 构造，而不是只打印“语法正确”。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Parser 实现策略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91840" cy="438912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438912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67B2"/>
                </a:solidFill>
                <a:latin typeface="微软雅黑"/>
              </a:rPr>
              <a:t>LL(1) 表驱动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2999232" cy="37947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优点：与课程理论直接对应
要求：
• 文法改造
• FIRST/FOLLOW
• 预测分析表
• 语法栈
• AST 动作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38912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38912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527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4CA8"/>
                </a:solidFill>
                <a:latin typeface="微软雅黑"/>
              </a:rPr>
              <a:t>递归下降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2999232" cy="37947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优点：结构清晰、易构造 AST
要求：
• 每个非终结符对应函数
• 正确处理优先级
• 明确 lookahead
• 错误恢复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291840" cy="438912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438912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527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84F"/>
                </a:solidFill>
                <a:latin typeface="微软雅黑"/>
              </a:rPr>
              <a:t>LR / 工具生成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920240"/>
            <a:ext cx="2999232" cy="37947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可作为挑战项
要求：
• 能解释状态 / 冲突
• 不能只调用库后视为完成
• 最终同样输出统一 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AST：不要把语法树做成 Token 的简单堆叠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46120" cy="452628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452628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67B2"/>
                </a:solidFill>
                <a:latin typeface="微软雅黑"/>
              </a:rPr>
              <a:t>Statement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2953512" cy="3931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CreateTableStmt
InsertStmt
SelectStmt
DeleteStmt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417320"/>
            <a:ext cx="3246120" cy="452628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1417320"/>
            <a:ext cx="73152" cy="452628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864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4CA8"/>
                </a:solidFill>
                <a:latin typeface="微软雅黑"/>
              </a:rPr>
              <a:t>Expression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20240"/>
            <a:ext cx="2953512" cy="3931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BinaryExpr
UnaryExpr
IdentifierExpr
LiteralExpr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417320"/>
            <a:ext cx="3246120" cy="452628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47304" y="1417320"/>
            <a:ext cx="73152" cy="452628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84F"/>
                </a:solidFill>
                <a:latin typeface="微软雅黑"/>
              </a:rPr>
              <a:t>结构信息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920240"/>
            <a:ext cx="2953512" cy="3931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表名 / 列名
操作符
子表达式
源码位置
类型（语义阶段可补充）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6062472"/>
            <a:ext cx="9555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F2937"/>
                </a:solidFill>
                <a:latin typeface="微软雅黑"/>
              </a:rPr>
              <a:t>AST 是 Parser、Semantic Analyzer 和 Plan Generator 之间的稳定接口。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AST 示例：优先级必须体现在树结构中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572000" cy="10972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42428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45919"/>
            <a:ext cx="4242816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0">
                <a:solidFill>
                  <a:srgbClr val="1F2937"/>
                </a:solidFill>
                <a:latin typeface="Consolas"/>
              </a:rPr>
              <a:t>WHERE a = 1 OR b = 2 AND c =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1188720" cy="530352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560320"/>
            <a:ext cx="13716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a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560320"/>
            <a:ext cx="1188720" cy="530352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703320"/>
            <a:ext cx="13716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b =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3703320"/>
            <a:ext cx="13716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c = 3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486400" y="1938528"/>
            <a:ext cx="1481328" cy="621792"/>
          </a:xfrm>
          <a:prstGeom prst="line">
            <a:avLst/>
          </a:prstGeom>
          <a:ln w="1651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45552" y="1938528"/>
            <a:ext cx="1344168" cy="621792"/>
          </a:xfrm>
          <a:prstGeom prst="line">
            <a:avLst/>
          </a:prstGeom>
          <a:ln w="1651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229600" y="3090672"/>
            <a:ext cx="667512" cy="612648"/>
          </a:xfrm>
          <a:prstGeom prst="line">
            <a:avLst/>
          </a:prstGeom>
          <a:ln w="1651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55480" y="3090672"/>
            <a:ext cx="868680" cy="612648"/>
          </a:xfrm>
          <a:prstGeom prst="line">
            <a:avLst/>
          </a:prstGeom>
          <a:ln w="1651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2743200"/>
            <a:ext cx="4160520" cy="233172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73152" cy="233172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2852928"/>
            <a:ext cx="38862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答辩重点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46120"/>
            <a:ext cx="3867911" cy="1737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教师可随机给出表达式，让学生画 AST 或指出 Parser 当前应进入哪个非终结符。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4983480"/>
            <a:ext cx="2834640" cy="347472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C62828"/>
                </a:solidFill>
                <a:latin typeface="微软雅黑"/>
              </a:rPr>
              <a:t>AND 的优先级高于 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语法错误诊断：从“ERROR”升级为“可定位、可解释”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572000" cy="182880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2428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错误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4242816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Consolas"/>
              </a:rPr>
              <a:t>SELECT name
FROM student
WHERE age &gt; 18 AND;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417320"/>
            <a:ext cx="5486400" cy="182880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33872" y="1490472"/>
            <a:ext cx="51572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输出示例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783080"/>
            <a:ext cx="5157216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0" b="0">
                <a:solidFill>
                  <a:srgbClr val="1F2937"/>
                </a:solidFill>
                <a:latin typeface="Consolas"/>
              </a:rPr>
              <a:t>SyntaxError at line 3, column 19
unexpected token: ';'
expected: IDENTIFIER | CONST | '(' | NOT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3291840" cy="169164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73152" cy="16916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3813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206240"/>
            <a:ext cx="299923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line + column
定位到错误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703320"/>
            <a:ext cx="3291840" cy="1691640"/>
          </a:xfrm>
          <a:prstGeom prst="roundRect">
            <a:avLst/>
          </a:prstGeom>
          <a:solidFill>
            <a:srgbClr val="FDF1E7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703320"/>
            <a:ext cx="73152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3813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67E22"/>
                </a:solidFill>
                <a:latin typeface="微软雅黑"/>
              </a:rPr>
              <a:t>实际符号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4206240"/>
            <a:ext cx="299923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unexpected token
告诉用户看到了什么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03320"/>
            <a:ext cx="3291840" cy="169164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703320"/>
            <a:ext cx="73152" cy="16916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813048"/>
            <a:ext cx="3017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期望集合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206240"/>
            <a:ext cx="299923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expected tokens
给出下一步修复线索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508760"/>
            <a:ext cx="109728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0A84F"/>
                </a:solidFill>
                <a:latin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1572768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微软雅黑"/>
              </a:rPr>
              <a:t>语义分析 Semantic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487168"/>
            <a:ext cx="80467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B7280"/>
                </a:solidFill>
                <a:latin typeface="微软雅黑"/>
              </a:rPr>
              <a:t>让“语法正确”进一步变成“语义可执行”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218688"/>
            <a:ext cx="5669280" cy="50292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语义分析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207008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34416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67B2"/>
                </a:solidFill>
                <a:latin typeface="微软雅黑"/>
              </a:rPr>
              <a:t>表存在性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478231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70" b="0">
                <a:solidFill>
                  <a:srgbClr val="1F2937"/>
                </a:solidFill>
                <a:latin typeface="微软雅黑"/>
              </a:rPr>
              <a:t>student 是否已经创建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507492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73152" cy="1207008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85292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D4CA8"/>
                </a:solidFill>
                <a:latin typeface="微软雅黑"/>
              </a:rPr>
              <a:t>列存在性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246120"/>
            <a:ext cx="478231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70" b="0">
                <a:solidFill>
                  <a:srgbClr val="1F2937"/>
                </a:solidFill>
                <a:latin typeface="微软雅黑"/>
              </a:rPr>
              <a:t>SELECT score 时 score 是否存在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51960"/>
            <a:ext cx="507492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251960"/>
            <a:ext cx="73152" cy="1207008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6168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A84F"/>
                </a:solidFill>
                <a:latin typeface="微软雅黑"/>
              </a:rPr>
              <a:t>名字绑定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754880"/>
            <a:ext cx="478231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70" b="0">
                <a:solidFill>
                  <a:srgbClr val="1F2937"/>
                </a:solidFill>
                <a:latin typeface="微软雅黑"/>
              </a:rPr>
              <a:t>Identifier → Catalog 中具体列定义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507492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73152" cy="1207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34416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7E22"/>
                </a:solidFill>
                <a:latin typeface="微软雅黑"/>
              </a:rPr>
              <a:t>类型一致性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37360"/>
            <a:ext cx="478231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70" b="0">
                <a:solidFill>
                  <a:srgbClr val="1F2937"/>
                </a:solidFill>
                <a:latin typeface="微软雅黑"/>
              </a:rPr>
              <a:t>INT 与 VARCHAR 能否进行该运算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743200"/>
            <a:ext cx="507492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743200"/>
            <a:ext cx="73152" cy="1207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85292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2828"/>
                </a:solidFill>
                <a:latin typeface="微软雅黑"/>
              </a:rPr>
              <a:t>INSERT 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246120"/>
            <a:ext cx="478231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70" b="0">
                <a:solidFill>
                  <a:srgbClr val="1F2937"/>
                </a:solidFill>
                <a:latin typeface="微软雅黑"/>
              </a:rPr>
              <a:t>列数、顺序、值类型是否一致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572000"/>
            <a:ext cx="484632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0" b="1">
                <a:solidFill>
                  <a:srgbClr val="1F2937"/>
                </a:solidFill>
                <a:latin typeface="微软雅黑"/>
              </a:rPr>
              <a:t>核心变化：语义分析不再只是“生成四元式”，而是显式完成数据库前端的名字解析与类型检查。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Catalog：SQL 编译器里的“符号表”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800600" cy="416052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490472"/>
            <a:ext cx="44714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模式目录示例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4471416" cy="3703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F2937"/>
                </a:solidFill>
                <a:latin typeface="Consolas"/>
              </a:rPr>
              <a:t>Catalog
student
├─ id    : INT
├─ name  : VARCHAR
└─ age   : INT
course
├─ cid   : INT
├─ title : VARCHAR
└─ score : 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5120640" cy="150876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73152" cy="150876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52704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编译原理对应关系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920240"/>
            <a:ext cx="4828031" cy="914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Symbol Table  ↔  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200400"/>
            <a:ext cx="5120640" cy="150876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200400"/>
            <a:ext cx="73152" cy="150876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331012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主要接口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703320"/>
            <a:ext cx="4828031" cy="914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createTable / findTable / findColumn / getType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983480"/>
            <a:ext cx="5120640" cy="96012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4983480"/>
            <a:ext cx="73152" cy="96012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5093208"/>
            <a:ext cx="48463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84F"/>
                </a:solidFill>
                <a:latin typeface="微软雅黑"/>
              </a:rPr>
              <a:t>系统集成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5486400"/>
            <a:ext cx="4828031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80" b="0">
                <a:solidFill>
                  <a:srgbClr val="1F2937"/>
                </a:solidFill>
                <a:latin typeface="微软雅黑"/>
              </a:rPr>
              <a:t>Catalog 后续还要服务执行引擎与持久化。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名字绑定 Name Resolution：标识符到底指向谁？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800600" cy="19659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4714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输入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471416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F2937"/>
                </a:solidFill>
                <a:latin typeface="Consolas"/>
              </a:rPr>
              <a:t>SELECT name
FROM student
WHERE score &gt; 60;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1417320" cy="548640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student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600200"/>
            <a:ext cx="1417320" cy="54864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Catalog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73568" y="1874519"/>
            <a:ext cx="694944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92240" y="2788920"/>
            <a:ext cx="14173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name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73568" y="3063240"/>
            <a:ext cx="694944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32520" y="2788920"/>
            <a:ext cx="1920240" cy="54864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student.name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1417320" cy="548640"/>
          </a:xfrm>
          <a:prstGeom prst="roundRect">
            <a:avLst/>
          </a:prstGeom>
          <a:solidFill>
            <a:srgbClr val="FCECEC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62828"/>
                </a:solidFill>
                <a:latin typeface="微软雅黑"/>
              </a:rPr>
              <a:t>score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73568" y="4251960"/>
            <a:ext cx="694944" cy="0"/>
          </a:xfrm>
          <a:prstGeom prst="line">
            <a:avLst/>
          </a:prstGeom>
          <a:ln w="2794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32520" y="3977639"/>
            <a:ext cx="1920240" cy="548640"/>
          </a:xfrm>
          <a:prstGeom prst="roundRect">
            <a:avLst/>
          </a:prstGeom>
          <a:solidFill>
            <a:srgbClr val="FCECEC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62828"/>
                </a:solidFill>
                <a:latin typeface="微软雅黑"/>
              </a:rPr>
              <a:t>NOT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94760"/>
            <a:ext cx="4754880" cy="173736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794760"/>
            <a:ext cx="73152" cy="1737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904488"/>
            <a:ext cx="44805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2828"/>
                </a:solidFill>
                <a:latin typeface="微软雅黑"/>
              </a:rPr>
              <a:t>应报告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297680"/>
            <a:ext cx="446227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SemanticError: column 'score' does not exist in table 'student'.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简化类型系统：让语义检查具备“规则”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67B2"/>
                </a:solidFill>
                <a:latin typeface="微软雅黑"/>
              </a:rPr>
              <a:t>INT + 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20240"/>
            <a:ext cx="295351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→ 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73152" cy="141732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84F"/>
                </a:solidFill>
                <a:latin typeface="微软雅黑"/>
              </a:rPr>
              <a:t>INT &gt; 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920240"/>
            <a:ext cx="295351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→ BOOL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141732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84F"/>
                </a:solidFill>
                <a:latin typeface="微软雅黑"/>
              </a:rPr>
              <a:t>VARCHAR = VARCHAR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920240"/>
            <a:ext cx="295351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→ BOOL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91839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291839"/>
            <a:ext cx="73152" cy="141732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4015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4CA8"/>
                </a:solidFill>
                <a:latin typeface="微软雅黑"/>
              </a:rPr>
              <a:t>BOOL AND BOOL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794759"/>
            <a:ext cx="295351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→ BOOL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291839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26280" y="3291839"/>
            <a:ext cx="73152" cy="141732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34015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4CA8"/>
                </a:solidFill>
                <a:latin typeface="微软雅黑"/>
              </a:rPr>
              <a:t>NOT BOOL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794759"/>
            <a:ext cx="295351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→ BOOL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91839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291839"/>
            <a:ext cx="73152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34015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</a:rPr>
              <a:t>INT + VARCHAR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794759"/>
            <a:ext cx="295351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→ 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5285232"/>
            <a:ext cx="7452360" cy="77724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331720" y="5285232"/>
            <a:ext cx="73152" cy="7772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96312" y="5394960"/>
            <a:ext cx="7178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84F"/>
                </a:solidFill>
                <a:latin typeface="微软雅黑"/>
              </a:rPr>
              <a:t>推荐做法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6312" y="5788152"/>
            <a:ext cx="7159752" cy="1828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将类型规则集中管理，而不是散落在 Parser 或执行器的 if/else 中。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语义错误：同样要求“类型 + 位置 + 原因”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21488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4256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错误示例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425696" cy="1691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Consolas"/>
              </a:rPr>
              <a:t>SELECT name
FROM student
WHERE age + 'abc' &gt; 20;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440680" cy="214884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71031" y="1444752"/>
            <a:ext cx="5111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1" y="1737360"/>
            <a:ext cx="5111496" cy="1691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F2937"/>
                </a:solidFill>
                <a:latin typeface="Consolas"/>
              </a:rPr>
              <a:t>SemanticError at line 3, column 11
operator '+' cannot be applied to
INT and VARCHAR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4754880" cy="16916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2"/>
            <a:ext cx="44256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错误示例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4425696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F2937"/>
                </a:solidFill>
                <a:latin typeface="Consolas"/>
              </a:rPr>
              <a:t>INSERT INTO student(id,name)
VALUES ('Alice', 1);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794760"/>
            <a:ext cx="5440680" cy="169164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1031" y="3867912"/>
            <a:ext cx="5111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60520"/>
            <a:ext cx="5111496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Consolas"/>
              </a:rPr>
              <a:t>TypeMismatch:
student.id expects INT, but VARCHAR found.
student.name expects VARCHAR, but INT found.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508760"/>
            <a:ext cx="109728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67E22"/>
                </a:solidFill>
                <a:latin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1572768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微软雅黑"/>
              </a:rPr>
              <a:t>执行计划与优化 Plan Generation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487168"/>
            <a:ext cx="80467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B7280"/>
                </a:solidFill>
                <a:latin typeface="微软雅黑"/>
              </a:rPr>
              <a:t>把 AST 变成数据库真正可以执行的逻辑算子树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218688"/>
            <a:ext cx="566928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Logical Plan：编译器与数据库执行引擎的接口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60020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3441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67B2"/>
                </a:solidFill>
                <a:latin typeface="微软雅黑"/>
              </a:rPr>
              <a:t>CreateTable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295351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创建表与注册元数据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23444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234440"/>
            <a:ext cx="73152" cy="160020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1" y="13441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4CA8"/>
                </a:solidFill>
                <a:latin typeface="微软雅黑"/>
              </a:rPr>
              <a:t>Insert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1737360"/>
            <a:ext cx="295351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向目标表写入记录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73152" cy="160020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3441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84F"/>
                </a:solidFill>
                <a:latin typeface="微软雅黑"/>
              </a:rPr>
              <a:t>SeqScan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737360"/>
            <a:ext cx="295351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顺序扫描表记录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9184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291840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4015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7E22"/>
                </a:solidFill>
                <a:latin typeface="微软雅黑"/>
              </a:rPr>
              <a:t>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794760"/>
            <a:ext cx="295351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执行 WHERE 条件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29184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3291840"/>
            <a:ext cx="73152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1" y="34015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</a:rPr>
              <a:t>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3794760"/>
            <a:ext cx="295351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返回 SELECT 指定列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291840"/>
            <a:ext cx="3246120" cy="160020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291840"/>
            <a:ext cx="73152" cy="160020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1" y="340156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输出形式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794760"/>
            <a:ext cx="2953512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树形结构 / JSON / S-expression
任选其一，但结构必须明确。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AST → Logical Plan：转换过程要有清晰规则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920240" cy="73152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SelectStmt AST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2377440"/>
            <a:ext cx="91440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2011680"/>
            <a:ext cx="1920240" cy="73152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SeqScan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377440"/>
            <a:ext cx="91440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20840" y="2011680"/>
            <a:ext cx="1920240" cy="731520"/>
          </a:xfrm>
          <a:prstGeom prst="roundRect">
            <a:avLst/>
          </a:prstGeom>
          <a:solidFill>
            <a:srgbClr val="FDF1E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Filter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32520" y="2377440"/>
            <a:ext cx="91440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92640" y="2011680"/>
            <a:ext cx="1691640" cy="731520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57600"/>
            <a:ext cx="10058400" cy="1737360"/>
          </a:xfrm>
          <a:prstGeom prst="roundRect">
            <a:avLst/>
          </a:prstGeom>
          <a:solidFill>
            <a:srgbClr val="FDF1E7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" y="3657600"/>
            <a:ext cx="73152" cy="1737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767328"/>
            <a:ext cx="9784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67E22"/>
                </a:solidFill>
                <a:latin typeface="微软雅黑"/>
              </a:rPr>
              <a:t>转换原则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160520"/>
            <a:ext cx="976579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FROM 决定数据源 → WHERE 生成 Filter → SELECT 列表生成 Project。
Plan 节点只保存执行所需信息，不再携带无关语法细节。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SELECT 执行计划示例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434840" cy="182880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99032"/>
            <a:ext cx="4105655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91640"/>
            <a:ext cx="4105655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F2937"/>
                </a:solidFill>
                <a:latin typeface="Consolas"/>
              </a:rPr>
              <a:t>SELECT name
FROM student
WHERE age &gt; 18;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2057400" cy="594360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Project[name]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743200"/>
            <a:ext cx="2057400" cy="594360"/>
          </a:xfrm>
          <a:prstGeom prst="roundRect">
            <a:avLst/>
          </a:prstGeom>
          <a:solidFill>
            <a:srgbClr val="FDF1E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Filter[age &gt; 18]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069080"/>
            <a:ext cx="2057400" cy="59436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SeqScan[student]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39327" y="2029968"/>
            <a:ext cx="0" cy="676656"/>
          </a:xfrm>
          <a:prstGeom prst="line">
            <a:avLst/>
          </a:prstGeom>
          <a:ln w="1778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39327" y="3355848"/>
            <a:ext cx="0" cy="676656"/>
          </a:xfrm>
          <a:prstGeom prst="line">
            <a:avLst/>
          </a:prstGeom>
          <a:ln w="1778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703320"/>
            <a:ext cx="4846320" cy="173736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73736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813048"/>
            <a:ext cx="45720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A84F"/>
                </a:solidFill>
                <a:latin typeface="微软雅黑"/>
              </a:rPr>
              <a:t>验收要点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06240"/>
            <a:ext cx="4553712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学生应能从任意 SELECT AST 解释每一个 Plan 节点为何产生，以及节点之间的数据流关系。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规则式优化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1874519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874519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35607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① 常量折叠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304495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age &gt; 10 + 8
→ age &gt;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874519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874519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435607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② 布尔化简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28800"/>
            <a:ext cx="304495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x AND TRUE
→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37560" cy="1874519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874519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35607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③ Projection Pruning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28800"/>
            <a:ext cx="304495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只保留查询真正需要的列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794760"/>
            <a:ext cx="3337560" cy="1874519"/>
          </a:xfrm>
          <a:prstGeom prst="roundRect">
            <a:avLst/>
          </a:prstGeom>
          <a:solidFill>
            <a:srgbClr val="FDF1E7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3794760"/>
            <a:ext cx="73152" cy="187451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70632" y="390448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67E22"/>
                </a:solidFill>
                <a:latin typeface="微软雅黑"/>
              </a:rPr>
              <a:t>④ Predicate Pushdown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4297680"/>
            <a:ext cx="304495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有 JOIN / 子查询扩展时
尽量提前过滤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3337560" cy="1874519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73152" cy="187451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3904488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微软雅黑"/>
              </a:rPr>
              <a:t>⑤ 冗余节点消除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297680"/>
            <a:ext cx="3044952" cy="1280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Project[*] / 恒真 Filter
可直接删除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优化前 / 优化后：必须能展示“结构变化”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98448"/>
            <a:ext cx="5120640" cy="10058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71600"/>
            <a:ext cx="4791455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微软雅黑"/>
              </a:rPr>
              <a:t>输入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64207"/>
            <a:ext cx="4791455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>
                <a:solidFill>
                  <a:srgbClr val="1F2937"/>
                </a:solidFill>
                <a:latin typeface="Consolas"/>
              </a:rPr>
              <a:t>SELECT name FROM student WHERE 1 = 1 AND age &gt; 10 + 8;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606040"/>
            <a:ext cx="1280160" cy="347472"/>
          </a:xfrm>
          <a:prstGeom prst="roundRect">
            <a:avLst/>
          </a:prstGeom>
          <a:solidFill>
            <a:srgbClr val="FDF1E7"/>
          </a:solidFill>
          <a:ln w="101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E67E22"/>
                </a:solidFill>
                <a:latin typeface="微软雅黑"/>
              </a:rPr>
              <a:t>优化前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154680"/>
            <a:ext cx="2423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F2937"/>
                </a:solidFill>
                <a:latin typeface="微软雅黑"/>
              </a:rPr>
              <a:t>Project[name]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069080"/>
            <a:ext cx="2423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F2937"/>
                </a:solidFill>
                <a:latin typeface="微软雅黑"/>
              </a:rPr>
              <a:t>Filter[1=1 AND age&gt;10+8]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983480"/>
            <a:ext cx="2423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F2937"/>
                </a:solidFill>
                <a:latin typeface="微软雅黑"/>
              </a:rPr>
              <a:t>SeqScan[student]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8568" y="3666744"/>
            <a:ext cx="0" cy="374904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58568" y="4581144"/>
            <a:ext cx="0" cy="374904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17720" y="4370832"/>
            <a:ext cx="1874520" cy="0"/>
          </a:xfrm>
          <a:prstGeom prst="line">
            <a:avLst/>
          </a:prstGeom>
          <a:ln w="25400">
            <a:solidFill>
              <a:srgbClr val="6D4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2606040"/>
            <a:ext cx="1280160" cy="347472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A84F"/>
                </a:solidFill>
                <a:latin typeface="微软雅黑"/>
              </a:rPr>
              <a:t>优化后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337560"/>
            <a:ext cx="2240280" cy="530352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F2937"/>
                </a:solidFill>
                <a:latin typeface="微软雅黑"/>
              </a:rPr>
              <a:t>Project[name]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43400"/>
            <a:ext cx="2240280" cy="530352"/>
          </a:xfrm>
          <a:prstGeom prst="roundRect">
            <a:avLst/>
          </a:prstGeom>
          <a:solidFill>
            <a:srgbClr val="FDF1E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微软雅黑"/>
              </a:rPr>
              <a:t>Filter[age &gt; 18]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349240"/>
            <a:ext cx="2240280" cy="530352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F2937"/>
                </a:solidFill>
                <a:latin typeface="微软雅黑"/>
              </a:rPr>
              <a:t>SeqScan[student]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30768" y="3877056"/>
            <a:ext cx="0" cy="438912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30768" y="4882896"/>
            <a:ext cx="0" cy="438912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72200" y="1389888"/>
            <a:ext cx="49377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F2937"/>
                </a:solidFill>
                <a:latin typeface="微软雅黑"/>
              </a:rPr>
              <a:t>重点不是“优化多复杂”，而是：规则正确、前后结构可验证、结果语义等价。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高级扩展：不要全部变成必做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46120" cy="434340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434340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4CA8"/>
                </a:solidFill>
                <a:latin typeface="微软雅黑"/>
              </a:rPr>
              <a:t>语言扩展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2953512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UPDATE
ORDER BY
GROUP BY
JOIN
NULL
更多数据类型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417320"/>
            <a:ext cx="3246120" cy="434340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1417320"/>
            <a:ext cx="73152" cy="434340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864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67B2"/>
                </a:solidFill>
                <a:latin typeface="微软雅黑"/>
              </a:rPr>
              <a:t>编译器扩展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20240"/>
            <a:ext cx="2953512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错误恢复
更复杂 AST
优化规则框架
Plan 可视化
序列化 / JSON 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417320"/>
            <a:ext cx="3246120" cy="434340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47304" y="1417320"/>
            <a:ext cx="73152" cy="434340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527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84F"/>
                </a:solidFill>
                <a:latin typeface="微软雅黑"/>
              </a:rPr>
              <a:t>系统扩展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920240"/>
            <a:ext cx="2953512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937"/>
                </a:solidFill>
                <a:latin typeface="微软雅黑"/>
              </a:rPr>
              <a:t>JOIN 执行算子
索引扫描
简单代价模型
EXPLAIN
Catalog 持久化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016752"/>
            <a:ext cx="97840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核心范围稳定，扩展功能用于体现区分度，避免陷入单纯代码量竞赛。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508760"/>
            <a:ext cx="109728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C62828"/>
                </a:solidFill>
                <a:latin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1572768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微软雅黑"/>
              </a:rPr>
              <a:t>测试、AI 使用与验收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487168"/>
            <a:ext cx="80467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B7280"/>
                </a:solidFill>
                <a:latin typeface="微软雅黑"/>
              </a:rPr>
              <a:t>大模型可以帮学生写代码，但不能替学生理解、测试与集成系统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218688"/>
            <a:ext cx="566928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测试体系：把“正确性”变成正式能力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6916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35607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正常测试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核心 SQL 正常执行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435607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微软雅黑"/>
              </a:rPr>
              <a:t>词法错误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28800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非法字符、字符串未闭合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35607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67E22"/>
                </a:solidFill>
                <a:latin typeface="微软雅黑"/>
              </a:rPr>
              <a:t>语法错误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28800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缺分号、括号不匹配、结构错误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73152" cy="169164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5844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6D4CA8"/>
                </a:solidFill>
                <a:latin typeface="微软雅黑"/>
              </a:rPr>
              <a:t>语义错误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977639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表/列不存在、类型不匹配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474720"/>
            <a:ext cx="73152" cy="16916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1" y="35844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边界测试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977639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空输入、极长标识符、多语句、大小写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74720"/>
            <a:ext cx="3246120" cy="169164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474720"/>
            <a:ext cx="73152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35844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微软雅黑"/>
              </a:rPr>
              <a:t>测试量化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977639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/>
              </a:rPr>
              <a:t>学生自建测试集 + 教师隐藏测试集
以通过率作为重要验收依据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5806440"/>
            <a:ext cx="4800600" cy="347472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C62828"/>
                </a:solidFill>
                <a:latin typeface="微软雅黑"/>
              </a:rPr>
              <a:t>Hidden Tests = 大模型时代最有效的正确性约束之一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Fuzz Testing / 随机 SQL 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103120" cy="777240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随机生成 SQL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2304288"/>
            <a:ext cx="82296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40480" y="1920240"/>
            <a:ext cx="2103120" cy="777240"/>
          </a:xfrm>
          <a:prstGeom prst="roundRect">
            <a:avLst/>
          </a:prstGeom>
          <a:solidFill>
            <a:srgbClr val="FDF1E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随机变异 / 破坏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2304288"/>
            <a:ext cx="82296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03720" y="1920240"/>
            <a:ext cx="2103120" cy="777240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运行 Compiler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98280" y="2304288"/>
            <a:ext cx="822960" cy="0"/>
          </a:xfrm>
          <a:prstGeom prst="line">
            <a:avLst/>
          </a:prstGeom>
          <a:ln w="279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66960" y="1920240"/>
            <a:ext cx="1417320" cy="777240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3246120" cy="169164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703320"/>
            <a:ext cx="73152" cy="16916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813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A84F"/>
                </a:solidFill>
                <a:latin typeface="微软雅黑"/>
              </a:rPr>
              <a:t>合法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206240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应成功通过各阶段并生成稳定结构。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3703320"/>
            <a:ext cx="3246120" cy="169164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62272" y="3703320"/>
            <a:ext cx="73152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26864" y="3813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2828"/>
                </a:solidFill>
                <a:latin typeface="微软雅黑"/>
              </a:rPr>
              <a:t>非法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206240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应拒绝，但不得崩溃或产生未定义行为。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3703320"/>
            <a:ext cx="3246120" cy="169164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47304" y="3703320"/>
            <a:ext cx="73152" cy="16916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11896" y="3813048"/>
            <a:ext cx="2971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67B2"/>
                </a:solidFill>
                <a:latin typeface="微软雅黑"/>
              </a:rPr>
              <a:t>关注指标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06240"/>
            <a:ext cx="2953512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F2937"/>
                </a:solidFill>
                <a:latin typeface="微软雅黑"/>
              </a:rPr>
              <a:t>Crash / Wrong Accept / Wrong Reject / Error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大模型使用与验收方式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443484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4348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35607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A84F"/>
                </a:solidFill>
                <a:latin typeface="微软雅黑"/>
              </a:rPr>
              <a:t>可使用的辅助方式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3044952" cy="3840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0">
                <a:solidFill>
                  <a:srgbClr val="1F2937"/>
                </a:solidFill>
                <a:latin typeface="微软雅黑"/>
              </a:rPr>
              <a:t>• 生成代码骨架
• 补全单元测试
• 辅助 Debug
• 比较不同 Parser 方案
• 解释编译错误
• 重构模块接口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443484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44348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435607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67B2"/>
                </a:solidFill>
                <a:latin typeface="微软雅黑"/>
              </a:rPr>
              <a:t>必须自己承担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28800"/>
            <a:ext cx="3044952" cy="3840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0">
                <a:solidFill>
                  <a:srgbClr val="1F2937"/>
                </a:solidFill>
                <a:latin typeface="微软雅黑"/>
              </a:rPr>
              <a:t>• 设计文法
• 定义 AST
• 明确语义规则
• 解释 Plan
• 验证优化等价性
• 对最终系统负责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37560" cy="4434840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4434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35607"/>
            <a:ext cx="30632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62828"/>
                </a:solidFill>
                <a:latin typeface="微软雅黑"/>
              </a:rPr>
              <a:t>不能通过验收的情况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28800"/>
            <a:ext cx="3044952" cy="38404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0">
                <a:solidFill>
                  <a:srgbClr val="1F2937"/>
                </a:solidFill>
                <a:latin typeface="微软雅黑"/>
              </a:rPr>
              <a:t>• 代码能跑但讲不清
• 改一个需求就失效
• 隐藏测试大量失败
• 不知道错误属于哪个阶段
• 无法解释 AI 生成模块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现场验收：比“看代码”更能区分真实能力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47548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B67B2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34440"/>
            <a:ext cx="14173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67B2"/>
                </a:solidFill>
                <a:latin typeface="微软雅黑"/>
              </a:rPr>
              <a:t>随机讲解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216152"/>
            <a:ext cx="82753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微软雅黑"/>
              </a:rPr>
              <a:t>教师随机点 parseExpression / resolveColumn / buildPlan 等函数，学生现场解释。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591"/>
            <a:ext cx="47548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6D4CA8"/>
                </a:solidFill>
                <a:latin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04872"/>
            <a:ext cx="14173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4CA8"/>
                </a:solidFill>
                <a:latin typeface="微软雅黑"/>
              </a:rPr>
              <a:t>需求修改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86584"/>
            <a:ext cx="82753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微软雅黑"/>
              </a:rPr>
              <a:t>现场增加 &lt;=、NOT、DISTINCT 等小需求，可使用大模型，但必须完成集成。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21024"/>
            <a:ext cx="47548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C62828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75304"/>
            <a:ext cx="14173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</a:rPr>
              <a:t>现场 Debug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557016"/>
            <a:ext cx="82753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微软雅黑"/>
              </a:rPr>
              <a:t>给出失败 SQL，让学生定位属于 Lexer / Parser / Semantic / Plan 哪一阶段。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91456"/>
            <a:ext cx="47548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A84F"/>
                </a:solidFill>
                <a:latin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45736"/>
            <a:ext cx="14173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84F"/>
                </a:solidFill>
                <a:latin typeface="微软雅黑"/>
              </a:rPr>
              <a:t>AST / Plan 推导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27448"/>
            <a:ext cx="82753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>
                <a:solidFill>
                  <a:srgbClr val="1F2937"/>
                </a:solidFill>
                <a:latin typeface="微软雅黑"/>
              </a:rPr>
              <a:t>给一条新 SQL，现场画出关键 AST 或 Logical Plan。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715000"/>
            <a:ext cx="8138160" cy="658368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11680" y="5715000"/>
            <a:ext cx="73152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76272" y="5824728"/>
            <a:ext cx="7863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C62828"/>
                </a:solidFill>
                <a:latin typeface="微软雅黑"/>
              </a:rPr>
              <a:t>核心判断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6217920"/>
            <a:ext cx="7845552" cy="640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937"/>
                </a:solidFill>
                <a:latin typeface="微软雅黑"/>
              </a:rPr>
              <a:t>真正的能力不是“不使用 AI”，而是能否理解、验证、修改并驾驭 AI 生成的系统代码。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任务结构：基础 / 进阶 / 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20440" cy="4526280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3246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67B2"/>
                </a:solidFill>
                <a:latin typeface="微软雅黑"/>
              </a:rPr>
              <a:t>必做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227832" cy="3931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Lexer + Token 位置
四类 SQL
AST
Catalog
语义检查
Logical Plan
错误定位
基础测试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52628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435607"/>
            <a:ext cx="3246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A84F"/>
                </a:solidFill>
                <a:latin typeface="微软雅黑"/>
              </a:rPr>
              <a:t>进阶 Advanced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28800"/>
            <a:ext cx="3227832" cy="3931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AND / OR / NOT
复杂表达式
2+ 优化规则
更强错误诊断
隐藏测试高通过率
Plan 可视化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520440" cy="4526280"/>
          </a:xfrm>
          <a:prstGeom prst="roundRect">
            <a:avLst/>
          </a:prstGeom>
          <a:solidFill>
            <a:srgbClr val="F3EEFA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452628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435607"/>
            <a:ext cx="3246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4CA8"/>
                </a:solidFill>
                <a:latin typeface="微软雅黑"/>
              </a:rPr>
              <a:t>扩展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828800"/>
            <a:ext cx="3227832" cy="3931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F2937"/>
                </a:solidFill>
                <a:latin typeface="微软雅黑"/>
              </a:rPr>
              <a:t>JOIN / GROUP BY
Fuzz Testing
规则优化框架
简单代价模型
EXPLAIN
高级错误恢复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94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67B2"/>
                </a:solidFill>
                <a:latin typeface="微软雅黑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51560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2937"/>
                </a:solidFill>
                <a:latin typeface="微软雅黑"/>
              </a:rPr>
              <a:t>最终交付物：从“程序”升级为“可验证的软件模块”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234440"/>
          </a:xfrm>
          <a:prstGeom prst="rect">
            <a:avLst/>
          </a:prstGeom>
          <a:solidFill>
            <a:srgbClr val="0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34416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67B2"/>
                </a:solidFill>
                <a:latin typeface="微软雅黑"/>
              </a:rPr>
              <a:t>源码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478231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937"/>
                </a:solidFill>
                <a:latin typeface="微软雅黑"/>
              </a:rPr>
              <a:t>模块化源码 + README + 构建/运行说明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70632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770632"/>
            <a:ext cx="73152" cy="1234440"/>
          </a:xfrm>
          <a:prstGeom prst="rect">
            <a:avLst/>
          </a:prstGeom>
          <a:solidFill>
            <a:srgbClr val="6D4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880360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D4CA8"/>
                </a:solidFill>
                <a:latin typeface="微软雅黑"/>
              </a:rP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273552"/>
            <a:ext cx="478231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937"/>
                </a:solidFill>
                <a:latin typeface="微软雅黑"/>
              </a:rPr>
              <a:t>grammar.md + AST / Catalog / Plan 结构说明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06824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306824"/>
            <a:ext cx="73152" cy="1234440"/>
          </a:xfrm>
          <a:prstGeom prst="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416552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A84F"/>
                </a:solidFill>
                <a:latin typeface="微软雅黑"/>
              </a:rPr>
              <a:t>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09744"/>
            <a:ext cx="478231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937"/>
                </a:solidFill>
                <a:latin typeface="微软雅黑"/>
              </a:rPr>
              <a:t>测试用例 + 运行结果 + 失败案例分析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73152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344168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7E22"/>
                </a:solidFill>
                <a:latin typeface="微软雅黑"/>
              </a:rP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37360"/>
            <a:ext cx="478231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937"/>
                </a:solidFill>
                <a:latin typeface="微软雅黑"/>
              </a:rPr>
              <a:t>Token → AST → Semantic → Plan → Optimized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770632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770632"/>
            <a:ext cx="73152" cy="1234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2880360"/>
            <a:ext cx="4800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2828"/>
                </a:solidFill>
                <a:latin typeface="微软雅黑"/>
              </a:rPr>
              <a:t>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273552"/>
            <a:ext cx="478231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F2937"/>
                </a:solidFill>
                <a:latin typeface="微软雅黑"/>
              </a:rPr>
              <a:t>关键设计决策、问题定位过程、AI 辅助使用说明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709160"/>
            <a:ext cx="3017520" cy="347472"/>
          </a:xfrm>
          <a:prstGeom prst="roundRect">
            <a:avLst/>
          </a:prstGeom>
          <a:solidFill>
            <a:srgbClr val="E9F3FA"/>
          </a:solidFill>
          <a:ln w="1016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B67B2"/>
                </a:solidFill>
                <a:latin typeface="微软雅黑"/>
              </a:rPr>
              <a:t>附一条端到端演示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1325880"/>
            <a:ext cx="1024128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100" b="1">
                <a:solidFill>
                  <a:srgbClr val="1F2937"/>
                </a:solidFill>
                <a:latin typeface="微软雅黑"/>
              </a:rPr>
              <a:t>一条主线贯穿整个实训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134" y="2880360"/>
            <a:ext cx="867660" cy="658368"/>
          </a:xfrm>
          <a:prstGeom prst="roundRect">
            <a:avLst/>
          </a:prstGeom>
          <a:solidFill>
            <a:srgbClr val="E9F3FA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SQL</a:t>
            </a:r>
          </a:p>
        </p:txBody>
      </p:sp>
      <p:cxnSp>
        <p:nvCxnSpPr>
          <p:cNvPr id="4" name="Connector 3"/>
          <p:cNvCxnSpPr>
            <a:cxnSpLocks/>
          </p:cNvCxnSpPr>
          <p:nvPr/>
        </p:nvCxnSpPr>
        <p:spPr>
          <a:xfrm>
            <a:off x="1177718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576038" y="2880360"/>
            <a:ext cx="8676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Token</a:t>
            </a: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2700622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98942" y="2880360"/>
            <a:ext cx="867660" cy="658368"/>
          </a:xfrm>
          <a:prstGeom prst="roundRect">
            <a:avLst/>
          </a:prstGeom>
          <a:solidFill>
            <a:srgbClr val="F3EEFA"/>
          </a:solidFill>
          <a:ln w="15240">
            <a:solidFill>
              <a:srgbClr val="6D4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AST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4223526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21846" y="2880360"/>
            <a:ext cx="996202" cy="658368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Semantic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5874972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73292" y="2880360"/>
            <a:ext cx="867660" cy="658368"/>
          </a:xfrm>
          <a:prstGeom prst="roundRect">
            <a:avLst/>
          </a:prstGeom>
          <a:solidFill>
            <a:srgbClr val="FDF1E7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Plan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7397876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96196" y="2880360"/>
            <a:ext cx="996202" cy="658368"/>
          </a:xfrm>
          <a:prstGeom prst="roundRect">
            <a:avLst/>
          </a:prstGeom>
          <a:solidFill>
            <a:srgbClr val="FCECEC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Optimize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9049322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47642" y="2880360"/>
            <a:ext cx="99620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Execute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10700768" y="3209544"/>
            <a:ext cx="141396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099086" y="2880360"/>
            <a:ext cx="996202" cy="658368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F2937"/>
                </a:solidFill>
                <a:latin typeface="微软雅黑"/>
              </a:rPr>
              <a:t>Page / 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24528"/>
            <a:ext cx="101041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67B2"/>
                </a:solidFill>
                <a:latin typeface="微软雅黑"/>
              </a:rPr>
              <a:t>把编译原理、操作系统和数据库真正贯通起来，才是“大型平台软件设计实习”的价值。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5230368"/>
            <a:ext cx="43891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微软雅黑"/>
              </a:rPr>
              <a:t>谢谢！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CA3AF"/>
                </a:solidFill>
                <a:latin typeface="微软雅黑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2358</Words>
  <Application>Microsoft Office PowerPoint</Application>
  <PresentationFormat>宽屏</PresentationFormat>
  <Paragraphs>467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等线</vt:lpstr>
      <vt:lpstr>等线 Light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大型平台软件设计实习：SQL编译器设计与实现</dc:title>
  <dc:subject>SQL编译器、AST、语义分析、执行计划、优化、测试与AI使用</dc:subject>
  <dc:creator>中南大学计算机学院</dc:creator>
  <cp:lastModifiedBy>Xin Yao</cp:lastModifiedBy>
  <cp:revision>234</cp:revision>
  <dcterms:created xsi:type="dcterms:W3CDTF">2020-05-07T13:13:07Z</dcterms:created>
  <dcterms:modified xsi:type="dcterms:W3CDTF">2026-09-07T10:09:12Z</dcterms:modified>
</cp:coreProperties>
</file>